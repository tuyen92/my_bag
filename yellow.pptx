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4"/>
  </p:sldMasterIdLst>
  <p:notesMasterIdLst>
    <p:notesMasterId r:id="rId25"/>
  </p:notesMasterIdLst>
  <p:handoutMasterIdLst>
    <p:handoutMasterId r:id="rId26"/>
  </p:handoutMasterIdLst>
  <p:sldIdLst>
    <p:sldId id="499" r:id="rId5"/>
    <p:sldId id="489" r:id="rId6"/>
    <p:sldId id="513" r:id="rId7"/>
    <p:sldId id="490" r:id="rId8"/>
    <p:sldId id="502" r:id="rId9"/>
    <p:sldId id="514" r:id="rId10"/>
    <p:sldId id="503" r:id="rId11"/>
    <p:sldId id="515" r:id="rId12"/>
    <p:sldId id="504" r:id="rId13"/>
    <p:sldId id="516" r:id="rId14"/>
    <p:sldId id="505" r:id="rId15"/>
    <p:sldId id="506" r:id="rId16"/>
    <p:sldId id="517" r:id="rId17"/>
    <p:sldId id="507" r:id="rId18"/>
    <p:sldId id="508" r:id="rId19"/>
    <p:sldId id="509" r:id="rId20"/>
    <p:sldId id="510" r:id="rId21"/>
    <p:sldId id="511" r:id="rId22"/>
    <p:sldId id="512" r:id="rId23"/>
    <p:sldId id="50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AN VU TRUC KHANH" initials="TVTK" lastIdx="4" clrIdx="0">
    <p:extLst>
      <p:ext uri="{19B8F6BF-5375-455C-9EA6-DF929625EA0E}">
        <p15:presenceInfo xmlns:p15="http://schemas.microsoft.com/office/powerpoint/2012/main" userId="S::khanh.tranv@gbc-engineers.com::dedff5a1-2f54-4379-9f09-d72f83a48341" providerId="AD"/>
      </p:ext>
    </p:extLst>
  </p:cmAuthor>
  <p:cmAuthor id="2" name="TRAN THI LE" initials="TTL" lastIdx="3" clrIdx="1">
    <p:extLst>
      <p:ext uri="{19B8F6BF-5375-455C-9EA6-DF929625EA0E}">
        <p15:presenceInfo xmlns:p15="http://schemas.microsoft.com/office/powerpoint/2012/main" userId="TRAN THI 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99FFCC"/>
    <a:srgbClr val="CCFFCC"/>
    <a:srgbClr val="0019B3"/>
    <a:srgbClr val="DDDDDD"/>
    <a:srgbClr val="96A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8CD61-C477-4F41-8FD8-FE8F6C1928B4}" v="1" dt="2023-10-09T07:53:39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77845" autoAdjust="0"/>
  </p:normalViewPr>
  <p:slideViewPr>
    <p:cSldViewPr snapToGrid="0">
      <p:cViewPr varScale="1">
        <p:scale>
          <a:sx n="90" d="100"/>
          <a:sy n="90" d="100"/>
        </p:scale>
        <p:origin x="591" y="7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ECD721-7E56-40D8-9807-7B1E1F3C2A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577B7-D0EC-4909-B432-91F0DF0CAE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6312F-7698-4F0F-9A70-3E64A355B831}" type="datetimeFigureOut">
              <a:rPr lang="en-US" smtClean="0"/>
              <a:t>09-May-24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D3FB1-E4E2-4C7E-9F63-A244FF5E2B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31E47-195D-45E5-B0DC-0A46383D62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C839A-7B4C-42B7-9D5C-C228F9090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2165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E4C26-09E7-49B0-B22F-A5CFFF3D3B56}" type="datetimeFigureOut">
              <a:rPr lang="en-US" smtClean="0"/>
              <a:t>09-May-24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CC333-D58C-4716-AB8C-99090B7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6536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B22FD6-0D35-3CD3-67E0-DF29EAE8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B2FE1B-292D-8F69-6F5E-457489FB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C25E511-D9C6-C5EF-695A-532B8D9F0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4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068098" cy="7072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2915"/>
            <a:ext cx="10515600" cy="4664047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5EEBA51-410D-650A-B407-23DE181438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1072341"/>
            <a:ext cx="10515599" cy="374074"/>
          </a:xfrm>
        </p:spPr>
        <p:txBody>
          <a:bodyPr anchor="ctr"/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42191DE-D1E1-D5F7-9543-7DE78D3D9E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5693097-2830-CC96-0A46-346D9CA108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4C55F6-E7E6-B1FD-89BD-2FDF8BD5805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23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8CFE58F-C51E-17F8-794A-6B17F7A7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40C657A-745D-D63E-B9B3-B7E17546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60EA460-7140-6558-ED34-DD7B8264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4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A64F0-57C9-D3E2-F056-96A67C59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746078-4FF0-055B-B0EA-5C166865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DD6553-334C-768D-47EC-9206D865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77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BB0341-FF82-5605-EB95-FBC7F588F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0B52A0-3C30-2582-5BC8-1B594D81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2B0C07-CE00-0370-E83D-F7E68F25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8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3AB6DF-51F3-8279-0963-07CF2E34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06B4E94-4795-B10D-E96A-EBCC6FBD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69DEAC3-2915-D976-D5C6-77F199ACC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5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0FE184-CF4E-36E8-7D65-DC8BD48C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D15132-C67F-DEE2-2DD8-A30AE182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21FCC4-C6C4-AC61-62CC-40AC6872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0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19DAB-8BE0-65E4-B5C4-D0EC16280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C0A0D-C1DD-032B-E359-69E2BDBD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F9A52-6BE0-06C8-054E-4470D92F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1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77B1856-7562-DD47-1592-F3E9E438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19C563D-92D5-90EC-0AD8-9EDB634F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B7D583-D9AC-5B81-FE59-7F46FD53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1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803578D-AAC2-D1CA-0AD6-B3E341DC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80707B5-99FA-F64A-4B98-EF18A568C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2BB621D-B6E8-A944-F745-C6A886D8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DA55B-4265-901F-1248-A21B40DE2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D84B6-B723-A1D2-8067-25D31110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AD7C5-7E4D-2421-BA69-BCCC3E6E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11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74847-7AC7-FF72-9667-52D19E168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A2E1A-2D52-E31F-B75D-EEBF4D78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099B2-6A7A-418C-5D8F-6084EB94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83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68098" cy="886604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39B9DA-F659-3B6E-3A2D-B0DF42743D92}"/>
              </a:ext>
            </a:extLst>
          </p:cNvPr>
          <p:cNvSpPr txBox="1">
            <a:spLocks/>
          </p:cNvSpPr>
          <p:nvPr userDrawn="1"/>
        </p:nvSpPr>
        <p:spPr>
          <a:xfrm>
            <a:off x="838200" y="1251729"/>
            <a:ext cx="10068098" cy="527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0" dirty="0"/>
              <a:t>Subtitle</a:t>
            </a:r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96521-3F87-855B-BC71-9F0BBB65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6046A-C39A-AE02-ECE0-24FA3563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ECC09-BE38-198D-D4DC-AF61EF8D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6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79C59-F32A-44C5-BD88-D6F83C6AD38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C9366BB5-F575-41C6-864F-A0E001CAF5D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083" y="230188"/>
            <a:ext cx="835041" cy="83504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88D57-4E7B-27E6-3376-FC18DE38A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GSI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47097-62A7-B2F9-56D0-CF4224EBF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16/01/2024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70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56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55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E6B8-56FE-45BA-2741-4DCBD96F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/>
          <a:lstStyle/>
          <a:p>
            <a:pPr algn="ctr"/>
            <a:r>
              <a:rPr lang="en-US"/>
              <a:t>Clean Code Yellow Grade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3F5E8-6F25-A683-BB02-B8D7162AB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8E983-19FB-6947-87A1-39A395AA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182E9-F8F1-B410-1E7B-AC3F2F91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7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2706-D225-01C8-3738-FDE38CAC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Clean Code Yellow Grade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BAA69-9E1F-38F5-F072-6B08BB4A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060" y="1690688"/>
            <a:ext cx="2959779" cy="4472450"/>
          </a:xfrm>
        </p:spPr>
        <p:txBody>
          <a:bodyPr anchor="ctr">
            <a:normAutofit/>
          </a:bodyPr>
          <a:lstStyle/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en-US" sz="2800" b="1"/>
              <a:t>Yellow Grade</a:t>
            </a:r>
          </a:p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en-US" sz="2800" b="1"/>
              <a:t>Principles</a:t>
            </a:r>
            <a:endParaRPr lang="en-US" b="1" dirty="0"/>
          </a:p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en-US" sz="2800" b="1"/>
              <a:t>Practice</a:t>
            </a:r>
          </a:p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en-US" sz="2800" b="1"/>
              <a:t>Questions</a:t>
            </a:r>
            <a:endParaRPr lang="en-US" sz="28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044C7-BBD7-5AD3-769E-A50EE487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C8413-2800-0CC1-D557-D9C7D0C6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417C-F8B5-A8F7-A5E4-F35E5462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5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9E522-C916-1B52-4354-0F03A141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Clean Code Yellow Grade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1791B-0E70-A3A6-486A-EF176ACD4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65C9D-F4F7-B2B5-2FA4-18549280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63122-FD7F-F562-7D01-AE9ADD1A9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DE8631-D69E-97C1-2409-9F4C2F9FC164}"/>
              </a:ext>
            </a:extLst>
          </p:cNvPr>
          <p:cNvSpPr txBox="1"/>
          <p:nvPr/>
        </p:nvSpPr>
        <p:spPr>
          <a:xfrm>
            <a:off x="838200" y="2008098"/>
            <a:ext cx="10515600" cy="4308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Focussing</a:t>
            </a:r>
            <a:r>
              <a:rPr lang="en-US" sz="3000" dirty="0"/>
              <a:t> on the automatized testing</a:t>
            </a:r>
            <a:endParaRPr lang="vi-VN" sz="3000" dirty="0"/>
          </a:p>
          <a:p>
            <a:pPr marL="914400" lvl="1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Include SOLID principle and principle of</a:t>
            </a:r>
            <a:r>
              <a:rPr lang="vi-VN" sz="3000"/>
              <a:t> object orientation</a:t>
            </a:r>
            <a:endParaRPr lang="en-US" sz="3000" dirty="0"/>
          </a:p>
          <a:p>
            <a:pPr marL="914400" lvl="1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Benefits:</a:t>
            </a:r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Improve code readability, stability, flexibility</a:t>
            </a:r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Improve maintainability</a:t>
            </a:r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200"/>
              <a:t>Stronger teamwork</a:t>
            </a:r>
            <a:r>
              <a:rPr lang="en-US" sz="3000"/>
              <a:t>, fast development</a:t>
            </a:r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3000"/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312347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1791B-0E70-A3A6-486A-EF176ACD4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65C9D-F4F7-B2B5-2FA4-18549280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63122-FD7F-F562-7D01-AE9ADD1A9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DE8631-D69E-97C1-2409-9F4C2F9FC164}"/>
              </a:ext>
            </a:extLst>
          </p:cNvPr>
          <p:cNvSpPr txBox="1"/>
          <p:nvPr/>
        </p:nvSpPr>
        <p:spPr>
          <a:xfrm>
            <a:off x="838200" y="1976038"/>
            <a:ext cx="10728158" cy="2905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914400">
              <a:lnSpc>
                <a:spcPct val="90000"/>
              </a:lnSpc>
              <a:spcBef>
                <a:spcPts val="500"/>
              </a:spcBef>
            </a:pPr>
            <a:r>
              <a:rPr lang="en-US" sz="3000" b="1"/>
              <a:t>Principle</a:t>
            </a:r>
            <a:r>
              <a:rPr lang="vi-VN" sz="3000" b="1"/>
              <a:t>s</a:t>
            </a:r>
            <a:endParaRPr lang="en-US" sz="3000" b="1"/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Interface Segregation Principle (ISP)</a:t>
            </a:r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Dependency Inversion Principle (DIP)</a:t>
            </a:r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Liskov Subs</a:t>
            </a:r>
            <a:r>
              <a:rPr lang="vi-VN" sz="3000"/>
              <a:t>t</a:t>
            </a:r>
            <a:r>
              <a:rPr lang="en-US" sz="3000"/>
              <a:t>itution Principle</a:t>
            </a:r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Principle of Least Astonishment</a:t>
            </a:r>
          </a:p>
          <a:p>
            <a:pPr marL="1371600" lvl="2" indent="-4572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3000"/>
              <a:t>Information Hiding Principle </a:t>
            </a:r>
            <a:endParaRPr lang="en-US" sz="3000" b="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68B13B6-F76D-30F1-DE59-3D288E7C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934700" cy="1325563"/>
          </a:xfrm>
        </p:spPr>
        <p:txBody>
          <a:bodyPr>
            <a:normAutofit/>
          </a:bodyPr>
          <a:lstStyle/>
          <a:p>
            <a:r>
              <a:rPr lang="en-US" sz="4000"/>
              <a:t>Clean Code Yellow Grade Principles</a:t>
            </a:r>
          </a:p>
        </p:txBody>
      </p:sp>
    </p:spTree>
    <p:extLst>
      <p:ext uri="{BB962C8B-B14F-4D97-AF65-F5344CB8AC3E}">
        <p14:creationId xmlns:p14="http://schemas.microsoft.com/office/powerpoint/2010/main" val="275745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FAF48-ED16-3F76-EE4F-6B259CA9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93792"/>
          </a:xfrm>
        </p:spPr>
        <p:txBody>
          <a:bodyPr>
            <a:normAutofit/>
          </a:bodyPr>
          <a:lstStyle/>
          <a:p>
            <a:r>
              <a:rPr lang="en-US" sz="4000"/>
              <a:t>Clean Code Grade Yellow Principles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793"/>
            <a:ext cx="10515600" cy="4783169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Interface Segregation Principle (ISP)</a:t>
            </a:r>
            <a:endParaRPr lang="vi-VN" sz="2800" b="1" dirty="0"/>
          </a:p>
          <a:p>
            <a:pPr marL="0" indent="0">
              <a:buNone/>
            </a:pPr>
            <a:endParaRPr lang="vi-VN" b="1" dirty="0"/>
          </a:p>
          <a:p>
            <a:endParaRPr lang="en-US" dirty="0"/>
          </a:p>
        </p:txBody>
      </p:sp>
      <p:pic>
        <p:nvPicPr>
          <p:cNvPr id="1026" name="Picture 2" descr="Interface Segregation Principle">
            <a:extLst>
              <a:ext uri="{FF2B5EF4-FFF2-40B4-BE49-F238E27FC236}">
                <a16:creationId xmlns:a16="http://schemas.microsoft.com/office/drawing/2014/main" id="{EF30C6BE-0EDA-7A5B-BF60-770DCAA01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2687"/>
            <a:ext cx="12192000" cy="375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820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C4F83-8EDC-A909-23DE-2C80DC636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792"/>
            <a:ext cx="10725150" cy="4783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/>
              <a:t>Interface Segregation Principle (ISP)</a:t>
            </a:r>
          </a:p>
          <a:p>
            <a:pPr marL="0" indent="0">
              <a:buNone/>
            </a:pPr>
            <a:endParaRPr lang="vi-VN" sz="2800" b="1"/>
          </a:p>
          <a:p>
            <a:r>
              <a:rPr lang="en-US"/>
              <a:t>The I in SOLID principle</a:t>
            </a:r>
          </a:p>
          <a:p>
            <a:r>
              <a:rPr lang="en-US"/>
              <a:t>A client shall not depend on service details which the client does not use.</a:t>
            </a:r>
          </a:p>
          <a:p>
            <a:r>
              <a:rPr lang="en-US"/>
              <a:t>Benefits: </a:t>
            </a:r>
          </a:p>
          <a:p>
            <a:pPr lvl="1"/>
            <a:r>
              <a:rPr lang="en-US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C</a:t>
            </a:r>
            <a:r>
              <a:rPr lang="en-US" b="0" i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ode more modular, reusable, and maintainable.</a:t>
            </a:r>
          </a:p>
          <a:p>
            <a:pPr lvl="1"/>
            <a:r>
              <a:rPr 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ulish"/>
              </a:rPr>
              <a:t>Reduces code complexity,</a:t>
            </a:r>
            <a:r>
              <a:rPr lang="en-US" b="0" i="0">
                <a:solidFill>
                  <a:srgbClr val="7F7F7F"/>
                </a:solidFill>
                <a:effectLst/>
                <a:highlight>
                  <a:srgbClr val="FFFFFF"/>
                </a:highlight>
                <a:latin typeface="Mulish"/>
              </a:rPr>
              <a:t> </a:t>
            </a:r>
            <a:r>
              <a:rPr lang="en-US" b="0" i="0">
                <a:effectLst/>
                <a:highlight>
                  <a:srgbClr val="FFFFFF"/>
                </a:highlight>
                <a:latin typeface="Mulish"/>
              </a:rPr>
              <a:t>the amount of duplicate code</a:t>
            </a:r>
            <a:endParaRPr lang="en-US" b="0" i="0">
              <a:solidFill>
                <a:srgbClr val="7F7F7F"/>
              </a:solidFill>
              <a:effectLst/>
              <a:highlight>
                <a:srgbClr val="FFFFFF"/>
              </a:highlight>
              <a:latin typeface="Mulish"/>
            </a:endParaRPr>
          </a:p>
          <a:p>
            <a:pPr lvl="1"/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Mulish"/>
              </a:rPr>
              <a:t>Easier addition or removal of features</a:t>
            </a:r>
            <a:endParaRPr lang="en-US" sz="2800"/>
          </a:p>
          <a:p>
            <a:pPr marL="457200" lvl="1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9EF69-A519-2B4A-3DA9-E2663782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97527-B516-BB3C-A321-B73F978E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2CFBF-274D-1CE7-D695-46D38B80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E55A8D-0947-DEC0-11C9-F728F89C2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93792"/>
          </a:xfrm>
        </p:spPr>
        <p:txBody>
          <a:bodyPr>
            <a:normAutofit/>
          </a:bodyPr>
          <a:lstStyle/>
          <a:p>
            <a:r>
              <a:rPr lang="en-US" sz="4000"/>
              <a:t>Clean Code Grade Yellow Principles</a:t>
            </a:r>
          </a:p>
        </p:txBody>
      </p:sp>
    </p:spTree>
    <p:extLst>
      <p:ext uri="{BB962C8B-B14F-4D97-AF65-F5344CB8AC3E}">
        <p14:creationId xmlns:p14="http://schemas.microsoft.com/office/powerpoint/2010/main" val="373703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522" y="1393791"/>
            <a:ext cx="10448278" cy="4783171"/>
          </a:xfrm>
        </p:spPr>
        <p:txBody>
          <a:bodyPr/>
          <a:lstStyle/>
          <a:p>
            <a:pPr marL="0" lvl="2" indent="0">
              <a:spcBef>
                <a:spcPts val="1000"/>
              </a:spcBef>
              <a:buNone/>
            </a:pPr>
            <a:r>
              <a:rPr lang="en-US" sz="2800" b="1"/>
              <a:t>Dependency Inversion Principle (DIP)</a:t>
            </a:r>
          </a:p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7335FC6-6C92-84F7-5C6A-820B7948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93792"/>
          </a:xfrm>
        </p:spPr>
        <p:txBody>
          <a:bodyPr>
            <a:normAutofit/>
          </a:bodyPr>
          <a:lstStyle/>
          <a:p>
            <a:r>
              <a:rPr lang="en-US" sz="4000"/>
              <a:t>Clean Code Grade Yellow Principles</a:t>
            </a:r>
          </a:p>
        </p:txBody>
      </p:sp>
      <p:pic>
        <p:nvPicPr>
          <p:cNvPr id="1026" name="Picture 2" descr="Dependency inversion principle - Wikipedia">
            <a:extLst>
              <a:ext uri="{FF2B5EF4-FFF2-40B4-BE49-F238E27FC236}">
                <a16:creationId xmlns:a16="http://schemas.microsoft.com/office/drawing/2014/main" id="{4A72886B-EC1A-EFF7-351E-95A04EE85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34" y="2045482"/>
            <a:ext cx="10755732" cy="422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06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E03AD-26E0-85F2-8FF4-0CE256F55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792"/>
            <a:ext cx="10515600" cy="47831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/>
              <a:t>Dependency Inversion Principle (DIP)</a:t>
            </a:r>
          </a:p>
          <a:p>
            <a:endParaRPr lang="en-US"/>
          </a:p>
          <a:p>
            <a:r>
              <a:rPr lang="en-US"/>
              <a:t>The D in SOLID principle</a:t>
            </a:r>
          </a:p>
          <a:p>
            <a:pPr fontAlgn="base"/>
            <a:r>
              <a:rPr lang="en-US"/>
              <a:t>High-level classes must not depend on low-level classes but both from interfaces.</a:t>
            </a:r>
          </a:p>
          <a:p>
            <a:pPr fontAlgn="base"/>
            <a:r>
              <a:rPr lang="en-US"/>
              <a:t>Interfaces must not depend on details but details on interfaces.</a:t>
            </a:r>
          </a:p>
          <a:p>
            <a:r>
              <a:rPr lang="en-US" sz="2800"/>
              <a:t>Benefits:</a:t>
            </a:r>
          </a:p>
          <a:p>
            <a:pPr lvl="1"/>
            <a:r>
              <a:rPr lang="en-US"/>
              <a:t>Higher flexibility.</a:t>
            </a:r>
          </a:p>
          <a:p>
            <a:pPr lvl="1"/>
            <a:r>
              <a:rPr lang="en-US"/>
              <a:t>Easier maintainability.</a:t>
            </a:r>
          </a:p>
          <a:p>
            <a:pPr lvl="1"/>
            <a:r>
              <a:rPr lang="en-US"/>
              <a:t>Higher reusability.</a:t>
            </a:r>
          </a:p>
          <a:p>
            <a:pPr lvl="1"/>
            <a:r>
              <a:rPr lang="en-US"/>
              <a:t>Higher modularity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F110B-2804-4242-C083-D9F52CD5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545C2-C5DA-A867-888A-49CDFCA4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9BB85-9DA9-BCDB-9E29-41FB242C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61AC6F-AAD3-DAD8-258B-32976D02E7FF}"/>
              </a:ext>
            </a:extLst>
          </p:cNvPr>
          <p:cNvSpPr txBox="1">
            <a:spLocks/>
          </p:cNvSpPr>
          <p:nvPr/>
        </p:nvSpPr>
        <p:spPr>
          <a:xfrm>
            <a:off x="628650" y="0"/>
            <a:ext cx="10934700" cy="1393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Clean Code Grade Yellow Principles</a:t>
            </a:r>
          </a:p>
        </p:txBody>
      </p:sp>
    </p:spTree>
    <p:extLst>
      <p:ext uri="{BB962C8B-B14F-4D97-AF65-F5344CB8AC3E}">
        <p14:creationId xmlns:p14="http://schemas.microsoft.com/office/powerpoint/2010/main" val="180963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791"/>
            <a:ext cx="10515600" cy="4783171"/>
          </a:xfrm>
        </p:spPr>
        <p:txBody>
          <a:bodyPr/>
          <a:lstStyle/>
          <a:p>
            <a:pPr marL="0" indent="0">
              <a:buNone/>
            </a:pPr>
            <a:r>
              <a:rPr lang="en-US" sz="2800" b="1"/>
              <a:t>Liskov Substiution Principle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3074" name="Picture 2" descr="Mastering SOLID Principles: A Comprehensive Guide for Software Engineers -  InRhythm">
            <a:extLst>
              <a:ext uri="{FF2B5EF4-FFF2-40B4-BE49-F238E27FC236}">
                <a16:creationId xmlns:a16="http://schemas.microsoft.com/office/drawing/2014/main" id="{722F67D6-760A-223A-CB55-D32BDD05F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530" y="2015231"/>
            <a:ext cx="4392939" cy="416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4C899C8-6DEA-4EE3-36A9-EAC72A9D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93792"/>
          </a:xfrm>
        </p:spPr>
        <p:txBody>
          <a:bodyPr>
            <a:normAutofit/>
          </a:bodyPr>
          <a:lstStyle/>
          <a:p>
            <a:r>
              <a:rPr lang="en-US" sz="4000"/>
              <a:t>Clean Code Grade Yellow Principles</a:t>
            </a:r>
          </a:p>
        </p:txBody>
      </p:sp>
    </p:spTree>
    <p:extLst>
      <p:ext uri="{BB962C8B-B14F-4D97-AF65-F5344CB8AC3E}">
        <p14:creationId xmlns:p14="http://schemas.microsoft.com/office/powerpoint/2010/main" val="487391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19B47-EF97-0C66-72B2-47A29F81B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792"/>
            <a:ext cx="10515600" cy="4783171"/>
          </a:xfrm>
        </p:spPr>
        <p:txBody>
          <a:bodyPr/>
          <a:lstStyle/>
          <a:p>
            <a:pPr marL="0" indent="0">
              <a:buNone/>
            </a:pPr>
            <a:r>
              <a:rPr lang="en-US" sz="2800" b="1"/>
              <a:t>Liskov Substitution Principle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The L in SOLID principle</a:t>
            </a:r>
          </a:p>
          <a:p>
            <a:r>
              <a:rPr lang="en-US"/>
              <a:t>Objects of a superclass should be replaceable with objects of a subclass without affecting the correctness of the program.</a:t>
            </a:r>
          </a:p>
          <a:p>
            <a:r>
              <a:rPr lang="en-US" sz="2800"/>
              <a:t>Benefits:</a:t>
            </a:r>
          </a:p>
          <a:p>
            <a:pPr lvl="1"/>
            <a:r>
              <a:rPr lang="en-US"/>
              <a:t>Improved code reliability</a:t>
            </a:r>
          </a:p>
          <a:p>
            <a:pPr lvl="1"/>
            <a:r>
              <a:rPr lang="en-US"/>
              <a:t>Higher reusability</a:t>
            </a:r>
          </a:p>
          <a:p>
            <a:pPr lvl="1"/>
            <a:r>
              <a:rPr lang="en-US"/>
              <a:t>Easier maintainability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E538-3910-B54F-E91E-AE05D5FA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13492-4183-53D2-F02B-1272C4E1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5561A-AB11-7BE0-1DB5-FFBD06E96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5FD40D-C4BF-F916-F6AD-B7E13B2F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93792"/>
          </a:xfrm>
        </p:spPr>
        <p:txBody>
          <a:bodyPr>
            <a:normAutofit/>
          </a:bodyPr>
          <a:lstStyle/>
          <a:p>
            <a:r>
              <a:rPr lang="en-US" sz="4000"/>
              <a:t>Clean Code Grade Yellow Principles</a:t>
            </a:r>
          </a:p>
        </p:txBody>
      </p:sp>
    </p:spTree>
    <p:extLst>
      <p:ext uri="{BB962C8B-B14F-4D97-AF65-F5344CB8AC3E}">
        <p14:creationId xmlns:p14="http://schemas.microsoft.com/office/powerpoint/2010/main" val="90924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3791"/>
            <a:ext cx="6148525" cy="47831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Principle of Least Astonishment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If a necessary feature has a high astonishment factor, it may be necessary to redesign </a:t>
            </a:r>
            <a:r>
              <a:rPr lang="en-US"/>
              <a:t>the feature</a:t>
            </a:r>
          </a:p>
          <a:p>
            <a:r>
              <a:rPr lang="en-US"/>
              <a:t>It emphasizes the importance of designing a system (website, app, etc.) that it behaves in a way that aligns with users' expectations</a:t>
            </a:r>
          </a:p>
          <a:p>
            <a:r>
              <a:rPr lang="en-US"/>
              <a:t>Minimizing user’s confusion and surprises.</a:t>
            </a:r>
            <a:endParaRPr lang="en-US" dirty="0"/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407259-BE46-8ADA-FF51-5182839F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93792"/>
          </a:xfrm>
        </p:spPr>
        <p:txBody>
          <a:bodyPr>
            <a:normAutofit/>
          </a:bodyPr>
          <a:lstStyle/>
          <a:p>
            <a:r>
              <a:rPr lang="en-US" sz="4000"/>
              <a:t>Clean Code Grade Yellow Principles</a:t>
            </a:r>
          </a:p>
        </p:txBody>
      </p:sp>
      <p:pic>
        <p:nvPicPr>
          <p:cNvPr id="3078" name="Picture 6" descr="template | Surprised Joey | Meme template, Templates, Memes">
            <a:extLst>
              <a:ext uri="{FF2B5EF4-FFF2-40B4-BE49-F238E27FC236}">
                <a16:creationId xmlns:a16="http://schemas.microsoft.com/office/drawing/2014/main" id="{669A1638-3CEB-BD47-41B2-64E454FD6A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26"/>
          <a:stretch/>
        </p:blipFill>
        <p:spPr bwMode="auto">
          <a:xfrm>
            <a:off x="6986725" y="1905778"/>
            <a:ext cx="5054353" cy="30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919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791"/>
            <a:ext cx="10515600" cy="4783171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Information Hiding Principle</a:t>
            </a:r>
          </a:p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96E94BA-9E0D-E796-962F-6DAE703F2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0013" y="1917766"/>
            <a:ext cx="6010961" cy="425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8B1364C-539F-382C-BDFB-6AD9BD45D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924" y="1917765"/>
            <a:ext cx="7758707" cy="425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F6809E0-6F7C-57C5-B6D2-04BCE46C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93792"/>
          </a:xfrm>
        </p:spPr>
        <p:txBody>
          <a:bodyPr>
            <a:normAutofit/>
          </a:bodyPr>
          <a:lstStyle/>
          <a:p>
            <a:r>
              <a:rPr lang="en-US" sz="4000"/>
              <a:t>Clean Code Grade Yellow Principles</a:t>
            </a:r>
          </a:p>
        </p:txBody>
      </p:sp>
    </p:spTree>
    <p:extLst>
      <p:ext uri="{BB962C8B-B14F-4D97-AF65-F5344CB8AC3E}">
        <p14:creationId xmlns:p14="http://schemas.microsoft.com/office/powerpoint/2010/main" val="1063465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61EE6-7B0F-82D2-618C-169815185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3792"/>
            <a:ext cx="10934699" cy="4783171"/>
          </a:xfrm>
        </p:spPr>
        <p:txBody>
          <a:bodyPr/>
          <a:lstStyle/>
          <a:p>
            <a:pPr marL="0" indent="0">
              <a:buNone/>
            </a:pPr>
            <a:r>
              <a:rPr lang="en-US" sz="2800" b="1"/>
              <a:t>Information Hiding Principle</a:t>
            </a:r>
          </a:p>
          <a:p>
            <a:endParaRPr lang="en-US"/>
          </a:p>
          <a:p>
            <a:r>
              <a:rPr lang="en-US"/>
              <a:t>It emphasizes the idea of restricting access to the internal implementation details of a software component and instead focusing on providing a well-defined interface for interacting with it.</a:t>
            </a:r>
          </a:p>
          <a:p>
            <a:r>
              <a:rPr lang="en-US"/>
              <a:t>Benefits:</a:t>
            </a:r>
          </a:p>
          <a:p>
            <a:pPr lvl="1"/>
            <a:r>
              <a:rPr lang="en-US"/>
              <a:t>Improved modularity</a:t>
            </a:r>
          </a:p>
          <a:p>
            <a:pPr lvl="1"/>
            <a:r>
              <a:rPr lang="en-US"/>
              <a:t>Higher reusability</a:t>
            </a:r>
          </a:p>
          <a:p>
            <a:pPr lvl="1"/>
            <a:r>
              <a:rPr lang="en-US"/>
              <a:t>Higher maintainability</a:t>
            </a:r>
          </a:p>
          <a:p>
            <a:pPr lvl="1"/>
            <a:r>
              <a:rPr lang="en-US"/>
              <a:t>Reduced coupling between components</a:t>
            </a:r>
          </a:p>
          <a:p>
            <a:pPr lvl="1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FFF93-7F85-123E-5849-8039391B1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16/01/2024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9DD0-F44C-3713-A9E7-F42B9C509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D92CD-3241-7C4F-57BE-67304335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05D5F6-C5DC-FDFD-3AAF-FEBE7F0C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93792"/>
          </a:xfrm>
        </p:spPr>
        <p:txBody>
          <a:bodyPr>
            <a:normAutofit/>
          </a:bodyPr>
          <a:lstStyle/>
          <a:p>
            <a:r>
              <a:rPr lang="en-US" sz="4000"/>
              <a:t>Clean Code Grade Yellow Principles</a:t>
            </a:r>
          </a:p>
        </p:txBody>
      </p:sp>
    </p:spTree>
    <p:extLst>
      <p:ext uri="{BB962C8B-B14F-4D97-AF65-F5344CB8AC3E}">
        <p14:creationId xmlns:p14="http://schemas.microsoft.com/office/powerpoint/2010/main" val="3886949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Practice</a:t>
            </a:r>
          </a:p>
          <a:p>
            <a:pPr marL="1371600" lvl="2" indent="-457200"/>
            <a:r>
              <a:rPr lang="en-US" sz="3000"/>
              <a:t>Automated Unit Tests</a:t>
            </a:r>
          </a:p>
          <a:p>
            <a:pPr marL="1371600" lvl="2" indent="-457200"/>
            <a:r>
              <a:rPr lang="en-US" sz="3000"/>
              <a:t>Mockups</a:t>
            </a:r>
          </a:p>
          <a:p>
            <a:pPr marL="1371600" lvl="2" indent="-457200"/>
            <a:r>
              <a:rPr lang="en-US" sz="3000"/>
              <a:t>Code Coverage Analyse</a:t>
            </a:r>
          </a:p>
          <a:p>
            <a:pPr marL="1371600" lvl="2" indent="-457200"/>
            <a:r>
              <a:rPr lang="en-US" sz="3000"/>
              <a:t>Participation in Professional Events</a:t>
            </a:r>
          </a:p>
          <a:p>
            <a:pPr marL="1371600" lvl="2" indent="-457200"/>
            <a:r>
              <a:rPr lang="en-US" sz="3000"/>
              <a:t>Complex Refactorings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0B79C9-5315-2D6B-FBF4-6F562E00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934700" cy="1325563"/>
          </a:xfrm>
        </p:spPr>
        <p:txBody>
          <a:bodyPr>
            <a:normAutofit/>
          </a:bodyPr>
          <a:lstStyle/>
          <a:p>
            <a:pPr algn="ctr"/>
            <a:r>
              <a:rPr lang="en-US"/>
              <a:t>Clean Code Yellow Grade</a:t>
            </a:r>
          </a:p>
        </p:txBody>
      </p:sp>
    </p:spTree>
    <p:extLst>
      <p:ext uri="{BB962C8B-B14F-4D97-AF65-F5344CB8AC3E}">
        <p14:creationId xmlns:p14="http://schemas.microsoft.com/office/powerpoint/2010/main" val="2085700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5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Automated Unit Test</a:t>
            </a:r>
          </a:p>
          <a:p>
            <a:r>
              <a:rPr lang="en-US"/>
              <a:t>Writing small, focused tests that verify the functionality of individual units of code (functions, classes, modules), executed automatically, providing feedback on code</a:t>
            </a:r>
          </a:p>
          <a:p>
            <a:r>
              <a:rPr lang="en-US"/>
              <a:t>Importance to:</a:t>
            </a:r>
          </a:p>
          <a:p>
            <a:pPr lvl="1"/>
            <a:r>
              <a:rPr lang="en-US"/>
              <a:t>Get early feedback</a:t>
            </a:r>
          </a:p>
          <a:p>
            <a:pPr lvl="1"/>
            <a:r>
              <a:rPr lang="en-US"/>
              <a:t>Refactoring with confidence</a:t>
            </a:r>
          </a:p>
          <a:p>
            <a:pPr lvl="1"/>
            <a:r>
              <a:rPr lang="en-US"/>
              <a:t>Improved code documentation</a:t>
            </a:r>
          </a:p>
          <a:p>
            <a:pPr lvl="1"/>
            <a:r>
              <a:rPr lang="en-US"/>
              <a:t>Continuous Integration (CI pipline)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0B79C9-5315-2D6B-FBF4-6F562E00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934700" cy="1325563"/>
          </a:xfrm>
        </p:spPr>
        <p:txBody>
          <a:bodyPr>
            <a:normAutofit/>
          </a:bodyPr>
          <a:lstStyle/>
          <a:p>
            <a:r>
              <a:rPr lang="en-US" sz="4000"/>
              <a:t>Clean Code Yellow Grade Practice</a:t>
            </a:r>
          </a:p>
        </p:txBody>
      </p:sp>
    </p:spTree>
    <p:extLst>
      <p:ext uri="{BB962C8B-B14F-4D97-AF65-F5344CB8AC3E}">
        <p14:creationId xmlns:p14="http://schemas.microsoft.com/office/powerpoint/2010/main" val="405849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/>
              <a:t>Mockups </a:t>
            </a:r>
          </a:p>
          <a:p>
            <a:r>
              <a:rPr lang="en-US"/>
              <a:t>Using mockups to isolated component test.</a:t>
            </a:r>
          </a:p>
          <a:p>
            <a:r>
              <a:rPr lang="en-US"/>
              <a:t>Benefits:</a:t>
            </a:r>
          </a:p>
          <a:p>
            <a:pPr lvl="1"/>
            <a:r>
              <a:rPr lang="en-US"/>
              <a:t>Focus on User-Centric Design</a:t>
            </a:r>
          </a:p>
          <a:p>
            <a:pPr lvl="1"/>
            <a:r>
              <a:rPr lang="en-US"/>
              <a:t>Improved Communication</a:t>
            </a:r>
          </a:p>
          <a:p>
            <a:pPr lvl="1"/>
            <a:r>
              <a:rPr lang="en-US"/>
              <a:t>Early Issue Identification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0B79C9-5315-2D6B-FBF4-6F562E00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934700" cy="1325563"/>
          </a:xfrm>
        </p:spPr>
        <p:txBody>
          <a:bodyPr>
            <a:normAutofit/>
          </a:bodyPr>
          <a:lstStyle/>
          <a:p>
            <a:r>
              <a:rPr lang="en-US" sz="4000"/>
              <a:t>Clean Code Yellow Grade Practice</a:t>
            </a:r>
          </a:p>
        </p:txBody>
      </p:sp>
    </p:spTree>
    <p:extLst>
      <p:ext uri="{BB962C8B-B14F-4D97-AF65-F5344CB8AC3E}">
        <p14:creationId xmlns:p14="http://schemas.microsoft.com/office/powerpoint/2010/main" val="424786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Code Coverage </a:t>
            </a:r>
            <a:r>
              <a:rPr lang="en-US" sz="2800" b="1" dirty="0" err="1"/>
              <a:t>Analyse</a:t>
            </a:r>
            <a:endParaRPr lang="en-US" sz="2800" b="1" dirty="0"/>
          </a:p>
          <a:p>
            <a:r>
              <a:rPr lang="en-US"/>
              <a:t>A technique that measures the percentage of source code that is executed during the execution of unit tests</a:t>
            </a:r>
          </a:p>
          <a:p>
            <a:r>
              <a:rPr lang="en-US" sz="2800"/>
              <a:t>Benefits:</a:t>
            </a:r>
          </a:p>
          <a:p>
            <a:pPr lvl="1"/>
            <a:r>
              <a:rPr lang="en-US"/>
              <a:t>Ensure code quality</a:t>
            </a:r>
          </a:p>
          <a:p>
            <a:pPr lvl="1"/>
            <a:r>
              <a:rPr lang="en-US"/>
              <a:t>Improve testing efficiency</a:t>
            </a:r>
          </a:p>
          <a:p>
            <a:pPr lvl="1"/>
            <a:r>
              <a:rPr lang="en-US"/>
              <a:t>Increase confidence in code</a:t>
            </a:r>
          </a:p>
          <a:p>
            <a:pPr lvl="1"/>
            <a:r>
              <a:rPr lang="en-US"/>
              <a:t>Detect dead code</a:t>
            </a:r>
            <a:endParaRPr lang="en-US" dirty="0"/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0B79C9-5315-2D6B-FBF4-6F562E00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934700" cy="1325563"/>
          </a:xfrm>
        </p:spPr>
        <p:txBody>
          <a:bodyPr>
            <a:normAutofit/>
          </a:bodyPr>
          <a:lstStyle/>
          <a:p>
            <a:r>
              <a:rPr lang="en-US" sz="4000"/>
              <a:t>Clean Code Yellow Grade Practice</a:t>
            </a:r>
          </a:p>
        </p:txBody>
      </p:sp>
    </p:spTree>
    <p:extLst>
      <p:ext uri="{BB962C8B-B14F-4D97-AF65-F5344CB8AC3E}">
        <p14:creationId xmlns:p14="http://schemas.microsoft.com/office/powerpoint/2010/main" val="3823045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Participation in Professional Events</a:t>
            </a:r>
          </a:p>
          <a:p>
            <a:pPr marL="0" indent="0">
              <a:buNone/>
            </a:pPr>
            <a:endParaRPr lang="en-US" sz="2800" b="1"/>
          </a:p>
          <a:p>
            <a:r>
              <a:rPr lang="en-US"/>
              <a:t>Discussing regularly to other software developers and exchanging experiences.</a:t>
            </a:r>
            <a:endParaRPr lang="en-US" dirty="0"/>
          </a:p>
          <a:p>
            <a:r>
              <a:rPr lang="en-US" b="0" i="0">
                <a:solidFill>
                  <a:srgbClr val="4B4F58"/>
                </a:solidFill>
                <a:effectLst/>
                <a:highlight>
                  <a:srgbClr val="FFFFFF"/>
                </a:highlight>
                <a:latin typeface="-apple-system"/>
              </a:rPr>
              <a:t> </a:t>
            </a:r>
            <a:r>
              <a:rPr lang="en-US"/>
              <a:t>Attending conferences, workshops, meetups, or other gatherings related to your professional field.</a:t>
            </a:r>
          </a:p>
          <a:p>
            <a:r>
              <a:rPr lang="en-US"/>
              <a:t>Learning, Networking, Skill Development, Staying Informed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0B79C9-5315-2D6B-FBF4-6F562E00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934700" cy="1325563"/>
          </a:xfrm>
        </p:spPr>
        <p:txBody>
          <a:bodyPr>
            <a:normAutofit/>
          </a:bodyPr>
          <a:lstStyle/>
          <a:p>
            <a:r>
              <a:rPr lang="en-US" sz="4000"/>
              <a:t>Clean Code Yellow Grade Principles</a:t>
            </a:r>
          </a:p>
        </p:txBody>
      </p:sp>
    </p:spTree>
    <p:extLst>
      <p:ext uri="{BB962C8B-B14F-4D97-AF65-F5344CB8AC3E}">
        <p14:creationId xmlns:p14="http://schemas.microsoft.com/office/powerpoint/2010/main" val="1930022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23F3-EFFE-E6A1-A349-3D286DE8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1E65-E056-A402-F42A-3B92008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CB90-93E4-37A4-6D7D-90B6BF2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20F3-12EB-B74D-81BE-9A26BB0EB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Complex </a:t>
            </a:r>
            <a:r>
              <a:rPr lang="en-US" sz="2800" b="1" dirty="0" err="1"/>
              <a:t>Refactorings</a:t>
            </a:r>
            <a:endParaRPr lang="en-US" sz="2800" b="1" dirty="0"/>
          </a:p>
          <a:p>
            <a:r>
              <a:rPr lang="en-US"/>
              <a:t>The process of restructuring and modifying existing code to improve its overall design, maintainability, and performance</a:t>
            </a:r>
            <a:endParaRPr lang="en-US" sz="2800" dirty="0"/>
          </a:p>
          <a:p>
            <a:r>
              <a:rPr lang="en-US" sz="2800"/>
              <a:t>Benefits:</a:t>
            </a:r>
          </a:p>
          <a:p>
            <a:pPr lvl="1"/>
            <a:r>
              <a:rPr lang="en-US"/>
              <a:t>Improved saintainability</a:t>
            </a:r>
          </a:p>
          <a:p>
            <a:pPr lvl="1"/>
            <a:r>
              <a:rPr lang="en-US"/>
              <a:t>Enhanced scalability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0B79C9-5315-2D6B-FBF4-6F562E00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934700" cy="1325563"/>
          </a:xfrm>
        </p:spPr>
        <p:txBody>
          <a:bodyPr>
            <a:normAutofit/>
          </a:bodyPr>
          <a:lstStyle/>
          <a:p>
            <a:r>
              <a:rPr lang="en-US" sz="4000"/>
              <a:t>Clean Code Yellow Grade Principles</a:t>
            </a:r>
          </a:p>
        </p:txBody>
      </p:sp>
    </p:spTree>
    <p:extLst>
      <p:ext uri="{BB962C8B-B14F-4D97-AF65-F5344CB8AC3E}">
        <p14:creationId xmlns:p14="http://schemas.microsoft.com/office/powerpoint/2010/main" val="3472894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4E91-3127-5564-D021-AF651A48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Answer the 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36B01-0E5B-6A18-18CB-4618F60F1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10/05/2024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896B9-583B-690B-D72F-E400BFBA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F870A-03E6-2009-4646-281250011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C59-F32A-44C5-BD88-D6F83C6AD38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98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SI Group Limite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A1FA"/>
      </a:accent1>
      <a:accent2>
        <a:srgbClr val="85C0FB"/>
      </a:accent2>
      <a:accent3>
        <a:srgbClr val="C2DFFD"/>
      </a:accent3>
      <a:accent4>
        <a:srgbClr val="F6C474"/>
      </a:accent4>
      <a:accent5>
        <a:srgbClr val="F9D7A3"/>
      </a:accent5>
      <a:accent6>
        <a:srgbClr val="FCEBD1"/>
      </a:accent6>
      <a:hlink>
        <a:srgbClr val="E9895F"/>
      </a:hlink>
      <a:folHlink>
        <a:srgbClr val="BC770B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2800" b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1742ab-05ec-4f96-a981-a771f0dc5ac4" xsi:nil="true"/>
    <lcf76f155ced4ddcb4097134ff3c332f xmlns="f629341c-4cde-4c27-8491-b27ba532aee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F091225DB1A947B01CB99F9AE9BB58" ma:contentTypeVersion="20" ma:contentTypeDescription="Create a new document." ma:contentTypeScope="" ma:versionID="f0907949df67cd8578a2dbd61e345099">
  <xsd:schema xmlns:xsd="http://www.w3.org/2001/XMLSchema" xmlns:xs="http://www.w3.org/2001/XMLSchema" xmlns:p="http://schemas.microsoft.com/office/2006/metadata/properties" xmlns:ns2="f629341c-4cde-4c27-8491-b27ba532aee8" xmlns:ns3="231742ab-05ec-4f96-a981-a771f0dc5ac4" targetNamespace="http://schemas.microsoft.com/office/2006/metadata/properties" ma:root="true" ma:fieldsID="357ff0bfbdf80d512588bbf9ae5ff5da" ns2:_="" ns3:_="">
    <xsd:import namespace="f629341c-4cde-4c27-8491-b27ba532aee8"/>
    <xsd:import namespace="231742ab-05ec-4f96-a981-a771f0dc5a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29341c-4cde-4c27-8491-b27ba532ae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0748611-0b14-43cb-b15d-0ca1993d59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1742ab-05ec-4f96-a981-a771f0dc5ac4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0c8e53f-6d06-4eef-89d1-d208a00d54c6}" ma:internalName="TaxCatchAll" ma:showField="CatchAllData" ma:web="231742ab-05ec-4f96-a981-a771f0dc5a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DB626F-72E2-49BA-8CB3-D64BACF09F7B}">
  <ds:schemaRefs>
    <ds:schemaRef ds:uri="http://schemas.microsoft.com/office/2006/metadata/properties"/>
    <ds:schemaRef ds:uri="http://schemas.microsoft.com/office/infopath/2007/PartnerControls"/>
    <ds:schemaRef ds:uri="231742ab-05ec-4f96-a981-a771f0dc5ac4"/>
    <ds:schemaRef ds:uri="f629341c-4cde-4c27-8491-b27ba532aee8"/>
  </ds:schemaRefs>
</ds:datastoreItem>
</file>

<file path=customXml/itemProps2.xml><?xml version="1.0" encoding="utf-8"?>
<ds:datastoreItem xmlns:ds="http://schemas.openxmlformats.org/officeDocument/2006/customXml" ds:itemID="{A373C971-40AF-4018-B4E4-CFAD404470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A1F8CA-0FC9-4508-AEC8-E87E8D868B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29341c-4cde-4c27-8491-b27ba532aee8"/>
    <ds:schemaRef ds:uri="231742ab-05ec-4f96-a981-a771f0dc5a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3110</TotalTime>
  <Words>652</Words>
  <Application>Microsoft Office PowerPoint</Application>
  <PresentationFormat>Widescreen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-apple-system</vt:lpstr>
      <vt:lpstr>Arial</vt:lpstr>
      <vt:lpstr>Arial Black</vt:lpstr>
      <vt:lpstr>Calibri</vt:lpstr>
      <vt:lpstr>Google Sans</vt:lpstr>
      <vt:lpstr>Mulish</vt:lpstr>
      <vt:lpstr>Wingdings</vt:lpstr>
      <vt:lpstr>Office Theme</vt:lpstr>
      <vt:lpstr>Clean Code Yellow Grade</vt:lpstr>
      <vt:lpstr>Clean Code Yellow Grade</vt:lpstr>
      <vt:lpstr>Clean Code Yellow Grade</vt:lpstr>
      <vt:lpstr>Clean Code Yellow Grade Principles</vt:lpstr>
      <vt:lpstr>Clean Code Grade Yellow Principles</vt:lpstr>
      <vt:lpstr>Clean Code Grade Yellow Principles</vt:lpstr>
      <vt:lpstr>Clean Code Grade Yellow Principles</vt:lpstr>
      <vt:lpstr>PowerPoint Presentation</vt:lpstr>
      <vt:lpstr>Clean Code Grade Yellow Principles</vt:lpstr>
      <vt:lpstr>Clean Code Grade Yellow Principles</vt:lpstr>
      <vt:lpstr>Clean Code Grade Yellow Principles</vt:lpstr>
      <vt:lpstr>Clean Code Grade Yellow Principles</vt:lpstr>
      <vt:lpstr>Clean Code Grade Yellow Principles</vt:lpstr>
      <vt:lpstr>Clean Code Yellow Grade</vt:lpstr>
      <vt:lpstr>Clean Code Yellow Grade Practice</vt:lpstr>
      <vt:lpstr>Clean Code Yellow Grade Practice</vt:lpstr>
      <vt:lpstr>Clean Code Yellow Grade Practice</vt:lpstr>
      <vt:lpstr>Clean Code Yellow Grade Principles</vt:lpstr>
      <vt:lpstr>Clean Code Yellow Grade Principles</vt:lpstr>
      <vt:lpstr>Answer the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GBC ENGINEERS VIETNAM</dc:title>
  <dc:creator>TRAN VU TRUC KHANH</dc:creator>
  <cp:lastModifiedBy>TUYEN NL</cp:lastModifiedBy>
  <cp:revision>640</cp:revision>
  <dcterms:created xsi:type="dcterms:W3CDTF">2020-12-09T09:51:30Z</dcterms:created>
  <dcterms:modified xsi:type="dcterms:W3CDTF">2024-05-09T17:53:16Z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0x01010059F091225DB1A947B01CB99F9AE9BB58</vt:lpwstr>
  </property>
</Properties>
</file>